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68" r:id="rId1"/>
  </p:sldMasterIdLst>
  <p:notesMasterIdLst>
    <p:notesMasterId r:id="rId15"/>
  </p:notesMasterIdLst>
  <p:sldIdLst>
    <p:sldId id="256" r:id="rId2"/>
    <p:sldId id="257" r:id="rId3"/>
    <p:sldId id="258" r:id="rId4"/>
    <p:sldId id="277" r:id="rId5"/>
    <p:sldId id="259" r:id="rId6"/>
    <p:sldId id="261" r:id="rId7"/>
    <p:sldId id="278" r:id="rId8"/>
    <p:sldId id="269" r:id="rId9"/>
    <p:sldId id="274" r:id="rId10"/>
    <p:sldId id="279" r:id="rId11"/>
    <p:sldId id="280" r:id="rId12"/>
    <p:sldId id="265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B24A0E-2801-4D9C-8929-CBCE2B3D3023}">
  <a:tblStyle styleId="{44B24A0E-2801-4D9C-8929-CBCE2B3D302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0413" autoAdjust="0"/>
  </p:normalViewPr>
  <p:slideViewPr>
    <p:cSldViewPr snapToGrid="0">
      <p:cViewPr varScale="1">
        <p:scale>
          <a:sx n="80" d="100"/>
          <a:sy n="80" d="100"/>
        </p:scale>
        <p:origin x="75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95606CD5-7DB9-6B76-A2F9-0A6B85C2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EDBC44DA-844D-187D-B3C8-E5B201399A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C2228C28-914C-8C31-E726-D209D7732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3687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373C6FEE-E2C5-B56A-6F3A-865F4121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>
            <a:extLst>
              <a:ext uri="{FF2B5EF4-FFF2-40B4-BE49-F238E27FC236}">
                <a16:creationId xmlns:a16="http://schemas.microsoft.com/office/drawing/2014/main" id="{3ED87A77-13B0-7627-DA16-606196D902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>
            <a:extLst>
              <a:ext uri="{FF2B5EF4-FFF2-40B4-BE49-F238E27FC236}">
                <a16:creationId xmlns:a16="http://schemas.microsoft.com/office/drawing/2014/main" id="{0ED49E57-BFE8-A4A4-8676-0D6E92DDB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426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F8B89433-ADFF-7929-BC4F-E0004283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>
            <a:extLst>
              <a:ext uri="{FF2B5EF4-FFF2-40B4-BE49-F238E27FC236}">
                <a16:creationId xmlns:a16="http://schemas.microsoft.com/office/drawing/2014/main" id="{A3EF28AB-EC4B-E8B6-E18A-8AA80658C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>
            <a:extLst>
              <a:ext uri="{FF2B5EF4-FFF2-40B4-BE49-F238E27FC236}">
                <a16:creationId xmlns:a16="http://schemas.microsoft.com/office/drawing/2014/main" id="{297B7A53-58CC-FC10-E437-2002F6D0E8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0589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46E2C218-E957-B662-9BBA-4F7278021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>
            <a:extLst>
              <a:ext uri="{FF2B5EF4-FFF2-40B4-BE49-F238E27FC236}">
                <a16:creationId xmlns:a16="http://schemas.microsoft.com/office/drawing/2014/main" id="{C060F9EC-B9BB-BDE4-EF13-20A2D44440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>
            <a:extLst>
              <a:ext uri="{FF2B5EF4-FFF2-40B4-BE49-F238E27FC236}">
                <a16:creationId xmlns:a16="http://schemas.microsoft.com/office/drawing/2014/main" id="{04428A50-95BD-5C91-445E-2BA178E49F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5908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911A8923-0945-78BE-1575-79F629CC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>
            <a:extLst>
              <a:ext uri="{FF2B5EF4-FFF2-40B4-BE49-F238E27FC236}">
                <a16:creationId xmlns:a16="http://schemas.microsoft.com/office/drawing/2014/main" id="{8DB54D61-67AF-4BB4-874F-3BEEB50AC9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>
            <a:extLst>
              <a:ext uri="{FF2B5EF4-FFF2-40B4-BE49-F238E27FC236}">
                <a16:creationId xmlns:a16="http://schemas.microsoft.com/office/drawing/2014/main" id="{4048AAFE-72FF-5F88-9960-993D7E416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132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645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3BDC9916-FE07-CFE6-CEE2-767824086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>
            <a:extLst>
              <a:ext uri="{FF2B5EF4-FFF2-40B4-BE49-F238E27FC236}">
                <a16:creationId xmlns:a16="http://schemas.microsoft.com/office/drawing/2014/main" id="{0BD6FA4F-F992-8A4E-0778-62BEAA0B6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:notes">
            <a:extLst>
              <a:ext uri="{FF2B5EF4-FFF2-40B4-BE49-F238E27FC236}">
                <a16:creationId xmlns:a16="http://schemas.microsoft.com/office/drawing/2014/main" id="{4028CDB5-1ACF-4EFF-FFCD-405D4AAB7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7381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7C27-BC8F-96D3-5769-DE48B49C3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798F9-70EA-D0FC-BB48-380914A0B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E5FF6-13A4-EB3C-0338-7B8C5E005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1218C-6DCB-571E-8AD0-72D9159F1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F3F09-68C9-32BB-721C-5D4E52873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194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5944-E440-8F1A-AB34-7ADC767C5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DCB91-48A8-66A1-0520-9DF2E7704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789FE-4AA3-73DB-14D9-99A7AABD6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597A1-9544-EF1F-CF47-04C18ECE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9138B-EAF8-DDB7-109B-C6DE3C28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7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4DB1-05E7-D87A-8E5A-45A9A52C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C9D62-ED3E-EB21-E9AD-B415839B9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5ED12-C3AB-FCA7-87B4-422A6798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46B0E-9F85-9336-012B-D62A680F4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2B283-5E8A-2CA2-AD18-C09C159DA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3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FF146-820F-CB57-7F8E-E347C18FF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7AAD3-287B-D404-6E26-83B3AF369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54EFB-78E4-AD9B-7277-D5F09A220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FC8D2-8641-D0C8-3FFC-A907EFD33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596A-4365-516C-D54D-3D5F7A0A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1E71B-8A78-8165-847E-A675B9BA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5C7E-4628-82B1-13AF-5642AC13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84175-A3C6-E5AD-5896-804B461C8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92DE2-91B1-CE29-D2BD-8000F4393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0F73B-AB46-A8A9-0616-66AB8ED12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7B7DA-C8F9-B446-4DD2-29761660D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210517-2707-1BCD-60A1-F16497E2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7F908C-37B9-CD22-8FF3-FD830CA5F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BF88A3-FBFC-A416-2BCA-5334C258C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8B58-4DF6-7655-E814-86F597E9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E0003-A163-2A88-F148-1DEFD067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157B6-C894-42C9-95B1-4DCB8A750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ED7CE-44C0-BBA6-997F-67752B58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463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B34F9-4480-F417-A40E-E52103CD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871F5-1F2F-036D-2CE7-3ABDBA65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834FF-4518-4A3C-2CBD-99DA4269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66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425B-51E5-36B9-78EB-61C7EACD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87EA9-0031-61B0-2DE4-21E6BA37C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467DA-D0F8-B102-D1E6-67744F4D6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B72FE-D0DE-992B-A939-FC4D926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944ED-75DB-42A9-47C2-63FC6AB79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60DC9-36F1-495B-FCD2-11E0075C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9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CDE54-74C2-B6F2-7002-07587836F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57ED6B-6103-B34F-5D08-8B3BD4122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AC03B-FF6F-22DF-EC38-FB28CEB26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A3638-05EC-5336-EAEF-5879BCDC2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06AB4-C51A-B37A-33B1-90FE131F0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9F5C2-6959-B08B-0954-0D749F61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249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ABA3-8145-8BE2-D3A6-D5B961FE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F4C29-6C0F-21C6-D845-013E5D47E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47966-F45C-3153-5306-2705EF5FD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A0403-1E39-E8B5-2547-049BB8DC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8AE15-0861-4374-8861-82AADABA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3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69DB25-D28C-BAF7-F0A0-B1D72B98DF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B6193-51E3-A771-293C-24ADBFB33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2B6A1-E037-5A16-EB5D-D5B583FA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17CC3-FDA6-F0C7-0871-57758A04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C6B2-AF68-7613-AF6D-FAEBB8260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9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92166-2C53-F0D6-39EC-08EFDFBDC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21ED7-43A2-8C33-3683-D70EBB19C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15A7D-89FC-33DB-5221-5D90D1C3D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72040-A59A-9D7C-12A6-73EBEAF2F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178B1-3975-5C51-9507-752D39DB3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8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1F2061-8039-BC3D-755E-EAC9AA255C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0175"/>
            <a:ext cx="12192000" cy="70485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Vocational Training Presentation 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NexusPrep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Smart Study Assistance Platform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B7896-41CF-DD1B-C194-C1B2CDC0CAA6}"/>
              </a:ext>
            </a:extLst>
          </p:cNvPr>
          <p:cNvSpPr txBox="1"/>
          <p:nvPr/>
        </p:nvSpPr>
        <p:spPr>
          <a:xfrm>
            <a:off x="2820416" y="853776"/>
            <a:ext cx="6551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pic>
        <p:nvPicPr>
          <p:cNvPr id="9" name="Picture 8" descr="A logo of a company&#10;&#10;AI-generated content may be incorrect.">
            <a:extLst>
              <a:ext uri="{FF2B5EF4-FFF2-40B4-BE49-F238E27FC236}">
                <a16:creationId xmlns:a16="http://schemas.microsoft.com/office/drawing/2014/main" id="{DFF2BAB1-AE55-A9F6-AF63-481D1FA08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470" y="1555733"/>
            <a:ext cx="1733044" cy="17732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A1006D-3D8C-9900-9B73-336C432F9F0A}"/>
              </a:ext>
            </a:extLst>
          </p:cNvPr>
          <p:cNvSpPr txBox="1"/>
          <p:nvPr/>
        </p:nvSpPr>
        <p:spPr>
          <a:xfrm>
            <a:off x="1969477" y="3384578"/>
            <a:ext cx="825303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Bhilai Institute of Technology, Durg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Autonomous Institute Affiliated to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Chhattisgarh Swami Vivekanand Technical University, Bhilai (CG)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EF8A15-7424-B26C-1AFB-A32909BE1605}"/>
              </a:ext>
            </a:extLst>
          </p:cNvPr>
          <p:cNvSpPr txBox="1"/>
          <p:nvPr/>
        </p:nvSpPr>
        <p:spPr>
          <a:xfrm>
            <a:off x="3869262" y="5681043"/>
            <a:ext cx="445346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r>
              <a:rPr lang="en-US" dirty="0"/>
              <a:t>:</a:t>
            </a:r>
          </a:p>
          <a:p>
            <a:pPr algn="ctr">
              <a:defRPr/>
            </a:pPr>
            <a:r>
              <a:rPr lang="en-US" sz="2400" b="1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Anupam Sharma, 300102223023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CD8391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AD8869-5F4D-A8D8-B0F4-6E299C561F4A}"/>
              </a:ext>
            </a:extLst>
          </p:cNvPr>
          <p:cNvSpPr txBox="1"/>
          <p:nvPr/>
        </p:nvSpPr>
        <p:spPr>
          <a:xfrm>
            <a:off x="2864731" y="4578977"/>
            <a:ext cx="6462522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 partial fulfillment of requirement for the award of the degree of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Bachelor of Technology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  <a:endParaRPr kumimoji="0" lang="en-IN" sz="2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934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581025" y="5810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1502560"/>
            <a:ext cx="10648950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Concept: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AI-driven study platform that converts raw academic material — textbook PDFs, scanned notes, and previous year question papers — into structured, interactive study aids across two dedicated modes.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 revision depends on spaced repetition and active recall, but manually preparing flashcards, summaries, and exam-focused strategy from raw material is slow, tedious, and inconsistent.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automate the journey from raw document to revision-ready content, while reliably handling real-world conditions like scanned/unclear PDFs and unpredictable AI API behavior.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Philosophy: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Pairing Large Language Model reasoning (Google Gemini) with the Ebbinghaus Forgetting Curve — generating study content is only half the job; scheduling its revision is the other half.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81025" y="5810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/>
          </a:p>
        </p:txBody>
      </p:sp>
      <p:sp>
        <p:nvSpPr>
          <p:cNvPr id="112" name="Google Shape;112;p15"/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B713A-1573-9329-2B11-18F29B043568}"/>
              </a:ext>
            </a:extLst>
          </p:cNvPr>
          <p:cNvSpPr txBox="1"/>
          <p:nvPr/>
        </p:nvSpPr>
        <p:spPr>
          <a:xfrm>
            <a:off x="581025" y="1346745"/>
            <a:ext cx="10488168" cy="510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Sink Bottleneck: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reading a chapter and authoring flashcards or summaries from it consumes hours that could otherwise go toward actual studying.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Unstructured-Input Gap: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student material is rarely clean — scanned photocopies and phone-photographed notes have no machine-readable text at all, and most tools can't handle that.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Study-Strategy Gap —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Comprehension study and targeted exam preparation are fundamentally different tasks, yet most existing tools offer only one generic mode for both.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Retention Gap: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 spacing schedule, information reviewed once is largely forgotten within days — and few students track revision manually or consistently.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CDA0A02D-7AFB-2C7E-205E-109D6C13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C37E90D2-0408-D6EC-8836-46EA690031D2}"/>
              </a:ext>
            </a:extLst>
          </p:cNvPr>
          <p:cNvSpPr txBox="1"/>
          <p:nvPr/>
        </p:nvSpPr>
        <p:spPr>
          <a:xfrm>
            <a:off x="581025" y="581025"/>
            <a:ext cx="11581447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8"/>
              </a:lnSpc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EBBINGHAUS FORGETTING CURVE </a:t>
            </a:r>
            <a:endParaRPr lang="en-US" sz="3200" dirty="0"/>
          </a:p>
        </p:txBody>
      </p:sp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09F7EF02-1913-11D0-272D-21FF2006F2DC}"/>
              </a:ext>
            </a:extLst>
          </p:cNvPr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5D4DAB-21FD-073C-5A9D-C3EE0570830A}"/>
              </a:ext>
            </a:extLst>
          </p:cNvPr>
          <p:cNvSpPr txBox="1"/>
          <p:nvPr/>
        </p:nvSpPr>
        <p:spPr>
          <a:xfrm>
            <a:off x="581025" y="1642050"/>
            <a:ext cx="506996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Science: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Psychologist Hermann Ebbinghaus found that memory retention decays sharply within the first few days of learning something new, then levels off — forgetting is fast at first, not linear.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Fix — Spaced Repetition: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Reviewing information right before it's forgotten resets the curve, so each next review can wait longer than the last.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NexusPrep's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Flashcards are auto-scheduled at Day 1, 3, 7, 14, and 30 — modeled directly on this curve.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163255-432F-AF90-7277-32C30368B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930909"/>
            <a:ext cx="5806440" cy="405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6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581025" y="581025"/>
            <a:ext cx="11581447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 dirty="0"/>
          </a:p>
        </p:txBody>
      </p:sp>
      <p:sp>
        <p:nvSpPr>
          <p:cNvPr id="129" name="Google Shape;129;p16"/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8E91FC-9690-67FE-4D6D-7CF6925F53B0}"/>
              </a:ext>
            </a:extLst>
          </p:cNvPr>
          <p:cNvSpPr txBox="1"/>
          <p:nvPr/>
        </p:nvSpPr>
        <p:spPr>
          <a:xfrm>
            <a:off x="581025" y="1413421"/>
            <a:ext cx="11123295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&amp; Environment: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3.10+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the backend; JavaScript with React 18 + Vite for the frontend.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PyMuPDF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(native PDF text extraction), with Gemini Vision OCR as an automatic fallback for scanned or image-based documents.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Atlas (cloud-hosted, async via Motor) — stores users, OTPs, and flashcard decks.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LLM Stack: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gemini-2.5-flash: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model used for all content generation and document validation.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 chain: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retries against gemini-3.1-flash-lite and gemini-3.5-flash if the primary model is rate-limited or unavailable.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Dispatch: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Brevo transactional email API — used for OTP verification, password resets, and revision reminders.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/>
        </p:nvSpPr>
        <p:spPr>
          <a:xfrm>
            <a:off x="581025" y="5810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dirty="0"/>
          </a:p>
        </p:txBody>
      </p:sp>
      <p:sp>
        <p:nvSpPr>
          <p:cNvPr id="156" name="Google Shape;156;p18"/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FB0394-CDCC-38E8-CBF3-B92CBC1E3CDF}"/>
              </a:ext>
            </a:extLst>
          </p:cNvPr>
          <p:cNvSpPr txBox="1"/>
          <p:nvPr/>
        </p:nvSpPr>
        <p:spPr>
          <a:xfrm>
            <a:off x="698943" y="2040651"/>
            <a:ext cx="62870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Pipeline: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Upload: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submits PDF(s) — study notes, PYQs, or textbook chapters.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text pulled via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PyMuPDF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OCR fallback triggers automatically if extraction yields too little text.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Validation: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checks that uploaded content is genuine educational material before expensive generation calls run.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Generation: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prompts dispatched concurrently to Gemini for summaries, flashcards, or exam strategy.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Persistence: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flashcard decks stored in MongoDB, linked to the user's account.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Scheduling: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Ebbinghaus-based spaced-repetition engine schedules the next review automatically.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E2EEE-5528-5B03-E37D-00B3543C2C6A}"/>
              </a:ext>
            </a:extLst>
          </p:cNvPr>
          <p:cNvSpPr txBox="1"/>
          <p:nvPr/>
        </p:nvSpPr>
        <p:spPr>
          <a:xfrm>
            <a:off x="698946" y="1346745"/>
            <a:ext cx="10794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Orchestration Pipeline: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framework ensuring reliable, structured content generation from raw, often messy student documents — with built-in fallback at every stage.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415D4-5142-47C5-5897-662F7F3D8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133" y="2040651"/>
            <a:ext cx="3995842" cy="45579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8B20EE48-B854-19C5-312F-A33B0BDE2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D671DA6D-A0EB-B631-AACC-0ACB51A4F4AF}"/>
              </a:ext>
            </a:extLst>
          </p:cNvPr>
          <p:cNvSpPr txBox="1"/>
          <p:nvPr/>
        </p:nvSpPr>
        <p:spPr>
          <a:xfrm>
            <a:off x="581025" y="581025"/>
            <a:ext cx="11581447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DESIGN</a:t>
            </a:r>
            <a:endParaRPr dirty="0"/>
          </a:p>
        </p:txBody>
      </p:sp>
      <p:sp>
        <p:nvSpPr>
          <p:cNvPr id="156" name="Google Shape;156;p18">
            <a:extLst>
              <a:ext uri="{FF2B5EF4-FFF2-40B4-BE49-F238E27FC236}">
                <a16:creationId xmlns:a16="http://schemas.microsoft.com/office/drawing/2014/main" id="{03D7517C-F7CC-09EE-95D2-43280F801E31}"/>
              </a:ext>
            </a:extLst>
          </p:cNvPr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F0DDB6-FC3A-0953-A653-3DB92A62837F}"/>
              </a:ext>
            </a:extLst>
          </p:cNvPr>
          <p:cNvSpPr txBox="1"/>
          <p:nvPr/>
        </p:nvSpPr>
        <p:spPr>
          <a:xfrm>
            <a:off x="581025" y="1340960"/>
            <a:ext cx="5514975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(Cloud-Hosted):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schemaless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document-oriented database chosen specifically because flashcard decks are naturally nested, variable-length structures — a poor fit for rigid relational tables.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Collections: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credentials, profile info, preferences, and lifetime usage statistics.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otps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Transient 6-digit verification codes with a 10-minute expiry, used during registration.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flashcard_decks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deck's title, cards, and spaced-repetition scheduling fields — linked to its owner via email.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4A015E-0917-52C4-C864-C26072A45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264066"/>
            <a:ext cx="5420487" cy="559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46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3F0838CE-B9C9-576B-FAC0-D5E5B5080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A1C45D7E-9E45-0C0B-3EE1-1971A8F89B67}"/>
              </a:ext>
            </a:extLst>
          </p:cNvPr>
          <p:cNvSpPr txBox="1"/>
          <p:nvPr/>
        </p:nvSpPr>
        <p:spPr>
          <a:xfrm>
            <a:off x="581025" y="581025"/>
            <a:ext cx="11581447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2C3E50"/>
                </a:solidFill>
                <a:latin typeface="Times New Roman"/>
                <a:cs typeface="Times New Roman"/>
                <a:sym typeface="Times New Roman"/>
              </a:rPr>
              <a:t>PHASE 1- INGESTION &amp; OCR FALLBACK</a:t>
            </a:r>
            <a:endParaRPr dirty="0">
              <a:solidFill>
                <a:srgbClr val="2C3E50"/>
              </a:solidFill>
            </a:endParaRPr>
          </a:p>
        </p:txBody>
      </p:sp>
      <p:sp>
        <p:nvSpPr>
          <p:cNvPr id="156" name="Google Shape;156;p18">
            <a:extLst>
              <a:ext uri="{FF2B5EF4-FFF2-40B4-BE49-F238E27FC236}">
                <a16:creationId xmlns:a16="http://schemas.microsoft.com/office/drawing/2014/main" id="{B0455A57-7768-920B-919C-2BA11AB61F83}"/>
              </a:ext>
            </a:extLst>
          </p:cNvPr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E81E8-A37E-361F-58EA-DE761C286592}"/>
              </a:ext>
            </a:extLst>
          </p:cNvPr>
          <p:cNvSpPr txBox="1"/>
          <p:nvPr/>
        </p:nvSpPr>
        <p:spPr>
          <a:xfrm>
            <a:off x="581025" y="1559932"/>
            <a:ext cx="10441592" cy="4094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Text Extraction: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PyMuPDF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reads embedded text directly from digitally-typed PDFs — the fast path for the majority of uploaded material.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Fallback via Gemini: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extracted text falls below 50 characters, pages are rendered as images and transcribed using Gemini's multimodal vision instead of a classical OCR engine.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Over Traditional OCR: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Contextual understanding lets it correctly interpret messy handwriting, faint scans, and partially obscured text far better than character-matching-based engines.</a:t>
            </a:r>
          </a:p>
        </p:txBody>
      </p:sp>
    </p:spTree>
    <p:extLst>
      <p:ext uri="{BB962C8B-B14F-4D97-AF65-F5344CB8AC3E}">
        <p14:creationId xmlns:p14="http://schemas.microsoft.com/office/powerpoint/2010/main" val="3370544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DE66E994-E0C1-0B1E-5F2E-1A5270AD5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26EEE5F9-8A00-FD2F-C8BD-2D0697FC8578}"/>
              </a:ext>
            </a:extLst>
          </p:cNvPr>
          <p:cNvSpPr txBox="1"/>
          <p:nvPr/>
        </p:nvSpPr>
        <p:spPr>
          <a:xfrm>
            <a:off x="581025" y="581025"/>
            <a:ext cx="11581447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2C3E50"/>
                </a:solidFill>
                <a:latin typeface="Times New Roman"/>
                <a:cs typeface="Times New Roman"/>
                <a:sym typeface="Times New Roman"/>
              </a:rPr>
              <a:t>PHASE 2- AI ORCHESTRATION</a:t>
            </a:r>
            <a:endParaRPr dirty="0">
              <a:solidFill>
                <a:srgbClr val="2C3E50"/>
              </a:solidFill>
            </a:endParaRPr>
          </a:p>
        </p:txBody>
      </p:sp>
      <p:sp>
        <p:nvSpPr>
          <p:cNvPr id="156" name="Google Shape;156;p18">
            <a:extLst>
              <a:ext uri="{FF2B5EF4-FFF2-40B4-BE49-F238E27FC236}">
                <a16:creationId xmlns:a16="http://schemas.microsoft.com/office/drawing/2014/main" id="{AB917ED9-7BF0-22FE-871F-50FE56E3DD82}"/>
              </a:ext>
            </a:extLst>
          </p:cNvPr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82B63C-EEE7-47D1-DB93-290061BD177D}"/>
              </a:ext>
            </a:extLst>
          </p:cNvPr>
          <p:cNvSpPr txBox="1"/>
          <p:nvPr/>
        </p:nvSpPr>
        <p:spPr>
          <a:xfrm>
            <a:off x="581025" y="1645908"/>
            <a:ext cx="10441592" cy="4602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Modes, One Engine: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uploaded document is routed through one of two purpose-built generation pipelines, depending on what the student actually needs.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Mode: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a subject title, chapter-wise takeaways, LaTeX-formatted formulas, key definitions, and 15–20 flashcards — built for general comprehension.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Mode: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Cross-references Notes against PYQs (after validating they're the same subject), producing high-yield topics, strategic insights, and 4/8-mark predicted questions plus a challenging MCQ quiz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Prompting: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generation call enforces structured JSON output and consistent math-formatting rules, so results render reliably on the frontend.</a:t>
            </a:r>
          </a:p>
        </p:txBody>
      </p:sp>
    </p:spTree>
    <p:extLst>
      <p:ext uri="{BB962C8B-B14F-4D97-AF65-F5344CB8AC3E}">
        <p14:creationId xmlns:p14="http://schemas.microsoft.com/office/powerpoint/2010/main" val="1604378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B53C52FB-1C0A-8AC3-7AB1-88B05D8F8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6E6FBF26-6FD0-CC9C-B3EB-7978344A6BB2}"/>
              </a:ext>
            </a:extLst>
          </p:cNvPr>
          <p:cNvSpPr txBox="1"/>
          <p:nvPr/>
        </p:nvSpPr>
        <p:spPr>
          <a:xfrm>
            <a:off x="581025" y="581025"/>
            <a:ext cx="11581447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8"/>
              </a:lnSpc>
            </a:pPr>
            <a:r>
              <a:rPr lang="en-US" sz="3150" b="1" dirty="0">
                <a:solidFill>
                  <a:srgbClr val="2C3E50"/>
                </a:solidFill>
                <a:latin typeface="Times New Roman"/>
                <a:cs typeface="Times New Roman"/>
                <a:sym typeface="Times New Roman"/>
              </a:rPr>
              <a:t>OUTPUT AND RESULTS</a:t>
            </a:r>
            <a:endParaRPr lang="en-US" sz="3200" dirty="0">
              <a:solidFill>
                <a:srgbClr val="2C3E50"/>
              </a:solidFill>
            </a:endParaRPr>
          </a:p>
        </p:txBody>
      </p:sp>
      <p:sp>
        <p:nvSpPr>
          <p:cNvPr id="156" name="Google Shape;156;p18">
            <a:extLst>
              <a:ext uri="{FF2B5EF4-FFF2-40B4-BE49-F238E27FC236}">
                <a16:creationId xmlns:a16="http://schemas.microsoft.com/office/drawing/2014/main" id="{2FEED622-2F75-BE73-010A-2487BEBFFCAC}"/>
              </a:ext>
            </a:extLst>
          </p:cNvPr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FCF7E-764A-6D1E-05EE-BB55DEF2AC31}"/>
              </a:ext>
            </a:extLst>
          </p:cNvPr>
          <p:cNvSpPr txBox="1"/>
          <p:nvPr/>
        </p:nvSpPr>
        <p:spPr>
          <a:xfrm>
            <a:off x="581025" y="1445042"/>
            <a:ext cx="10906125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Synthesis &amp; Predictive Generation: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 transformation of unstructured academic PDFs into study aids and targeted exam strategies.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Deliverables: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Mode Synthesis: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generates concise chapter takeaways, extracts complex mathematical formulas , and creates ready-to-study flashcard decks.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Mode Predictions: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Accurately cross-references Notes and PYQs to output High-Yield Topics, strategic exam insights, and highly probable 4-mark and 8-mark descriptive questions.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Integrity: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Renders complex equations and Greek letters via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completely bypassing generic AI formatting corruption.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Spaced Repetition Engine: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Decks are successfully persisted in MongoDB and automatically scheduled for review at Ebbinghaus intervals (1, 3, 7, 14, 30 days).</a:t>
            </a:r>
          </a:p>
        </p:txBody>
      </p:sp>
    </p:spTree>
    <p:extLst>
      <p:ext uri="{BB962C8B-B14F-4D97-AF65-F5344CB8AC3E}">
        <p14:creationId xmlns:p14="http://schemas.microsoft.com/office/powerpoint/2010/main" val="4009895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1F11CA-548E-0E1A-A3EF-ADD4CDE0D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8600"/>
            <a:ext cx="6260175" cy="3057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72A21C-04EE-D985-F886-CA8C5BD414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93673" y="3571876"/>
            <a:ext cx="6260175" cy="303623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0248D-F8E2-DCE2-10A6-D7BACD9C141F}"/>
              </a:ext>
            </a:extLst>
          </p:cNvPr>
          <p:cNvCxnSpPr/>
          <p:nvPr/>
        </p:nvCxnSpPr>
        <p:spPr>
          <a:xfrm>
            <a:off x="0" y="3429000"/>
            <a:ext cx="12287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6D57979-10FF-A3E9-1D06-F078E4678BF1}"/>
              </a:ext>
            </a:extLst>
          </p:cNvPr>
          <p:cNvSpPr txBox="1"/>
          <p:nvPr/>
        </p:nvSpPr>
        <p:spPr>
          <a:xfrm>
            <a:off x="7286623" y="1249532"/>
            <a:ext cx="44672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Mode Results Dashboard with Key Takeaways, Quizes, Flashcards, and rendered formulas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173D8-D051-3B99-6C18-2F0D23E2F4A9}"/>
              </a:ext>
            </a:extLst>
          </p:cNvPr>
          <p:cNvSpPr txBox="1"/>
          <p:nvPr/>
        </p:nvSpPr>
        <p:spPr>
          <a:xfrm>
            <a:off x="581025" y="4582161"/>
            <a:ext cx="44672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Mode Results Dashboard with High Yield Topics, Strategic Insights, and predicted questions</a:t>
            </a:r>
          </a:p>
        </p:txBody>
      </p:sp>
    </p:spTree>
    <p:extLst>
      <p:ext uri="{BB962C8B-B14F-4D97-AF65-F5344CB8AC3E}">
        <p14:creationId xmlns:p14="http://schemas.microsoft.com/office/powerpoint/2010/main" val="121043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581025" y="581025"/>
            <a:ext cx="11581447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2C3E50"/>
                </a:solidFill>
                <a:latin typeface="Times New Roman"/>
                <a:cs typeface="Times New Roman"/>
                <a:sym typeface="Times New Roman"/>
              </a:rPr>
              <a:t>CONCLUSION &amp; FUTURE SCOPE </a:t>
            </a:r>
            <a:endParaRPr dirty="0"/>
          </a:p>
        </p:txBody>
      </p:sp>
      <p:sp>
        <p:nvSpPr>
          <p:cNvPr id="258" name="Google Shape;258;p22"/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15B6F6-1D3F-A456-5FC0-D757DB8FEE39}"/>
              </a:ext>
            </a:extLst>
          </p:cNvPr>
          <p:cNvSpPr txBox="1"/>
          <p:nvPr/>
        </p:nvSpPr>
        <p:spPr>
          <a:xfrm>
            <a:off x="581024" y="1264067"/>
            <a:ext cx="5000625" cy="4745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 manual study prep by transforming raw PDFs into mathematically accurate (LaTeX) interactive assets.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cross-referenced Notes and PYQs to accurately predict high-yield topics and targeted exam questions.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Promoted active recall using a cloud-synced Ebbinghaus Spaced Repetition engine with automated email reminders.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EA69D-A480-42B7-738D-7D4C2297F22D}"/>
              </a:ext>
            </a:extLst>
          </p:cNvPr>
          <p:cNvSpPr txBox="1"/>
          <p:nvPr/>
        </p:nvSpPr>
        <p:spPr>
          <a:xfrm>
            <a:off x="6096000" y="1264066"/>
            <a:ext cx="5000625" cy="4745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MongoDB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enable multi-user environments for sharing and co-editing flashcard decks.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Re-introducing local vector databases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deep, offline semantic querying of massive textbook datasets.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pipeline to directly ingest, transcribe, and synthesize lecture audio and video recordings.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10452242-DCD2-9C42-6005-05A894907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>
            <a:extLst>
              <a:ext uri="{FF2B5EF4-FFF2-40B4-BE49-F238E27FC236}">
                <a16:creationId xmlns:a16="http://schemas.microsoft.com/office/drawing/2014/main" id="{C7641744-3147-458E-D769-1A42CD809A0D}"/>
              </a:ext>
            </a:extLst>
          </p:cNvPr>
          <p:cNvSpPr txBox="1"/>
          <p:nvPr/>
        </p:nvSpPr>
        <p:spPr>
          <a:xfrm>
            <a:off x="1376363" y="2616470"/>
            <a:ext cx="9439274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2C3E50"/>
                </a:solidFill>
                <a:latin typeface="Times New Roman"/>
                <a:cs typeface="Times New Roman"/>
                <a:sym typeface="Times New Roman"/>
              </a:rPr>
              <a:t>THANK YOU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3500349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</TotalTime>
  <Words>1219</Words>
  <Application>Microsoft Office PowerPoint</Application>
  <PresentationFormat>Widescreen</PresentationFormat>
  <Paragraphs>79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A Vocational Training Presentation on NexusPrep: A Smart Study Assistance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.... ....</dc:creator>
  <cp:lastModifiedBy>Anupam Sharma</cp:lastModifiedBy>
  <cp:revision>28</cp:revision>
  <dcterms:modified xsi:type="dcterms:W3CDTF">2026-07-06T18:18:49Z</dcterms:modified>
</cp:coreProperties>
</file>